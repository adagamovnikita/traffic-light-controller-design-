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Space Mon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zyGATs6BMFaMBUhf/e9mJ99U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paceMono-boldItalic.fntdata"/><Relationship Id="rId16" Type="http://schemas.openxmlformats.org/officeDocument/2006/relationships/font" Target="fonts/Space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bc388e7e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3dbc388e7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dbc388e7e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hyperlink" Target="http://drive.google.com/file/d/1JFua0nMFcnnYY1j87APznGMxl7325RQx/view" TargetMode="External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000125" y="1233022"/>
            <a:ext cx="7143750" cy="2677455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57313" y="1590210"/>
            <a:ext cx="6429375" cy="1005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Space Mono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Traffic Light Controller Design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357313" y="2738903"/>
            <a:ext cx="3621881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Space Mono"/>
              <a:buNone/>
            </a:pPr>
            <a:r>
              <a:rPr b="0" i="0" lang="en-US" sz="17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CSEN211 — AUB Mediterraneo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57313" y="3297901"/>
            <a:ext cx="6429375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Space Mono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Adagamov Nikita &amp; ALWaleed Hameed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0" y="-7144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PROJECT OVERVIEW &amp; 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28625" y="830461"/>
            <a:ext cx="8286750" cy="10144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00075" y="973336"/>
            <a:ext cx="7943850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MAIN_OBJECTIVE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00075" y="1250156"/>
            <a:ext cx="7943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Design a safe and efficient traffic light controller for a four-way intersection.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28625" y="2044898"/>
            <a:ext cx="2705081" cy="17002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2925" y="2159198"/>
            <a:ext cx="2476481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SYSTEM_GOAL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2925" y="2436019"/>
            <a:ext cx="247648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Error-free management of vehicle flow between North-South and East-West roads.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19431" y="2044898"/>
            <a:ext cx="2705109" cy="17002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333731" y="2159198"/>
            <a:ext cx="2476509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SAFETY_PRIORITY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33731" y="2436019"/>
            <a:ext cx="247650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Focus on perfect synchronization and dedicated pedestrian protection mechanisms.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010266" y="2044898"/>
            <a:ext cx="2705081" cy="17002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124566" y="2159198"/>
            <a:ext cx="2476481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CORE_MECHANISM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24566" y="2436019"/>
            <a:ext cx="247648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Use of a Finite State Machine (FSM) for predictable and reliable transitions.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g3dbc388e7e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g3dbc388e7ef_0_0"/>
          <p:cNvSpPr/>
          <p:nvPr/>
        </p:nvSpPr>
        <p:spPr>
          <a:xfrm>
            <a:off x="0" y="-7144"/>
            <a:ext cx="9144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dbc388e7ef_0_0"/>
          <p:cNvSpPr/>
          <p:nvPr/>
        </p:nvSpPr>
        <p:spPr>
          <a:xfrm>
            <a:off x="600075" y="973336"/>
            <a:ext cx="7943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dbc388e7ef_0_0"/>
          <p:cNvSpPr/>
          <p:nvPr/>
        </p:nvSpPr>
        <p:spPr>
          <a:xfrm>
            <a:off x="600075" y="1250156"/>
            <a:ext cx="794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dbc388e7ef_0_0"/>
          <p:cNvSpPr/>
          <p:nvPr/>
        </p:nvSpPr>
        <p:spPr>
          <a:xfrm>
            <a:off x="542925" y="2159198"/>
            <a:ext cx="2476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dbc388e7ef_0_0"/>
          <p:cNvSpPr/>
          <p:nvPr/>
        </p:nvSpPr>
        <p:spPr>
          <a:xfrm>
            <a:off x="542925" y="2436019"/>
            <a:ext cx="24765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bc388e7ef_0_0"/>
          <p:cNvSpPr/>
          <p:nvPr/>
        </p:nvSpPr>
        <p:spPr>
          <a:xfrm>
            <a:off x="6124566" y="2159198"/>
            <a:ext cx="2476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dbc388e7ef_0_0"/>
          <p:cNvSpPr/>
          <p:nvPr/>
        </p:nvSpPr>
        <p:spPr>
          <a:xfrm>
            <a:off x="6124566" y="2436019"/>
            <a:ext cx="2476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Space Mono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g3dbc388e7ef_0_0" title="20-13-26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0" y="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KEY DIGITAL COMPONENTS (LOGISIM)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28625" y="766171"/>
            <a:ext cx="2705100" cy="8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14350" y="837605"/>
            <a:ext cx="253363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TIMING_CONTROL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14350" y="1064419"/>
            <a:ext cx="25336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Clock ("heartbeat")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14350" y="1281578"/>
            <a:ext cx="25336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4-bit Counter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14350" y="1498736"/>
            <a:ext cx="25336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4-bit Comparator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19425" y="766175"/>
            <a:ext cx="2705100" cy="8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305156" y="837605"/>
            <a:ext cx="2533659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FSM_BRAIN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305156" y="1064419"/>
            <a:ext cx="253365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3 D Flip-Flops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305156" y="1281578"/>
            <a:ext cx="253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Stores binary codes for states S0–S4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010275" y="766175"/>
            <a:ext cx="2705100" cy="89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095991" y="837605"/>
            <a:ext cx="2533631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LOGIC_BLOCKS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095991" y="1064419"/>
            <a:ext cx="25336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Next State Logic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095991" y="1281578"/>
            <a:ext cx="253363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Output Logic (LED driver)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28675" y="1715895"/>
            <a:ext cx="2705100" cy="67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14400" y="1787330"/>
            <a:ext cx="25335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PEDESTRIAN_UNIT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14400" y="2014144"/>
            <a:ext cx="2533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Memory Latch (OR + D-FF)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14400" y="2231303"/>
            <a:ext cx="2533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"Trap" walk requests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219475" y="1715895"/>
            <a:ext cx="2705100" cy="67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305206" y="1787330"/>
            <a:ext cx="25338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VISUAL_OUTPUTS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305206" y="2014144"/>
            <a:ext cx="2533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7 LEDs (NS, EW, Ped)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305206" y="2231303"/>
            <a:ext cx="2533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Color-coded indicators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010325" y="1715895"/>
            <a:ext cx="2705100" cy="67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096041" y="1773042"/>
            <a:ext cx="25335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TIMING_LOGIC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096041" y="1999856"/>
            <a:ext cx="2533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T_Done signal at 0xa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96041" y="2217015"/>
            <a:ext cx="2533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Triggers state transition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2448350"/>
            <a:ext cx="3989349" cy="24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6125" y="2448425"/>
            <a:ext cx="1710840" cy="245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5125" y="2448425"/>
            <a:ext cx="1499969" cy="2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44" y="-7144"/>
            <a:ext cx="915828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-7144" y="-7144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MOORE MACHINE AND STATE ENCODING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21481" y="901898"/>
            <a:ext cx="4036219" cy="36218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00075" y="1080492"/>
            <a:ext cx="1728788" cy="198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LOGIC_ARCHITECTURE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00075" y="1528763"/>
            <a:ext cx="367903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Moore Machine Logic: Output lights depend strictly on the current memory state.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00075" y="2047354"/>
            <a:ext cx="3679031" cy="61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System Stability: Ensures lights do not flicker or change based directly on asynchronous inputs.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00075" y="2771663"/>
            <a:ext cx="367903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Predictable Transitions: State changes occur only on the rising edge of the clock.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72013" y="901898"/>
            <a:ext cx="4036219" cy="36218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850606" y="1080492"/>
            <a:ext cx="1650206" cy="198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ENCODING_&amp;_SAFETY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850606" y="1528763"/>
            <a:ext cx="367903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State Encoding: 5 distinct phases represented by 3 binary bits (Q2, Q1, Q0).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50606" y="2047354"/>
            <a:ext cx="367903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Mathematical Safety: Boolean equations prevent "double green" errors.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50606" y="2601664"/>
            <a:ext cx="3679031" cy="8001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0F17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850606" y="2601664"/>
            <a:ext cx="367903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500" spcFirstLastPara="1" rIns="127500" wrap="square" tIns="127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[ SAFETY_EQUATION ]</a:t>
            </a:r>
            <a:b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NS_G = !Q2 &amp; !Q1 &amp; !Q0 (S0)</a:t>
            </a:r>
            <a:b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EW_G = !Q2 &amp; Q1 &amp; !Q0 (S2)</a:t>
            </a:r>
            <a:b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0" i="0" lang="en-US" sz="8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Result: Mutual Exclusion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57150" y="5715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FSM STATE CYCLE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85775" y="766175"/>
            <a:ext cx="4100400" cy="4084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28650" y="823317"/>
            <a:ext cx="1575197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Space Mono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VEHICLE_PHASES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28650" y="1157288"/>
            <a:ext cx="38147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S0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] North-South Green / East-West Red flow.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28650" y="1407319"/>
            <a:ext cx="38147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S1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] North-South Yellow transition phase.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28650" y="1657350"/>
            <a:ext cx="38147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S2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] East-West Green / North-South Red flow.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8650" y="1907381"/>
            <a:ext cx="38147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S3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] East-West Yellow transition phase.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672013" y="766167"/>
            <a:ext cx="4100513" cy="30718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14888" y="823317"/>
            <a:ext cx="1575197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Space Mono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SPECIAL_PHASES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14888" y="1157288"/>
            <a:ext cx="3814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S4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] </a:t>
            </a: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Pedestrian Walk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: Total Safety Stop. All vehicle lights are 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814888" y="1693069"/>
            <a:ext cx="1575197" cy="219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Space Mono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SMART_SKIPPING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814888" y="2027039"/>
            <a:ext cx="38147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System checks the latch at the end of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S3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14888" y="2277070"/>
            <a:ext cx="3814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If </a:t>
            </a: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NO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request exists: Skip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S4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and return to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S0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814888" y="2562858"/>
            <a:ext cx="38148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If request exists: Proceed to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S4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6664"/>
          <a:stretch/>
        </p:blipFill>
        <p:spPr>
          <a:xfrm>
            <a:off x="676550" y="2219925"/>
            <a:ext cx="3766874" cy="2421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57150" y="5715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TIMING CONTROL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85775" y="766167"/>
            <a:ext cx="5357813" cy="6940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71500" y="837605"/>
            <a:ext cx="51863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PHASE_REQUIREMENT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71500" y="1085850"/>
            <a:ext cx="518636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Each main light phase must stay active for exactly 10 seconds (10 clock cycles).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5713" y="1923096"/>
            <a:ext cx="5357700" cy="69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71438" y="1994534"/>
            <a:ext cx="51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COMPARATOR_FUNCTION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71438" y="2242779"/>
            <a:ext cx="5186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Monitors counter signals (C3–C0) to trigger the T_Done transition.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85725" y="3205371"/>
            <a:ext cx="5357700" cy="69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71450" y="3312234"/>
            <a:ext cx="51864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AUTOMATIC_RESET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71450" y="3539279"/>
            <a:ext cx="5186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Counter "Maximum Value" set to 0xa to ensure 10-second cycle repeats.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957888" y="766167"/>
            <a:ext cx="2814638" cy="213095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086475" y="851892"/>
            <a:ext cx="2571750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BINARY_PATTERN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086475" y="1100138"/>
            <a:ext cx="2571750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Decimal 10 = Hex 'a'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90047" y="1340876"/>
            <a:ext cx="641152" cy="24110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090047" y="1340876"/>
            <a:ext cx="641152" cy="241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Space Mono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719088" y="1340876"/>
            <a:ext cx="645170" cy="24110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719088" y="1340876"/>
            <a:ext cx="645170" cy="241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Space Mono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347821" y="1340876"/>
            <a:ext cx="653402" cy="24110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347821" y="1340876"/>
            <a:ext cx="653402" cy="241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Space Mono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992796" y="1340876"/>
            <a:ext cx="661857" cy="24110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992796" y="1340876"/>
            <a:ext cx="661857" cy="241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Space Mono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090047" y="1574834"/>
            <a:ext cx="641152" cy="34825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090047" y="1574834"/>
            <a:ext cx="641152" cy="34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Mono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728520" y="1574834"/>
            <a:ext cx="642045" cy="34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Space Mono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370564" y="1574834"/>
            <a:ext cx="642045" cy="348258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7370564" y="1574834"/>
            <a:ext cx="642045" cy="34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Mono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012609" y="1574834"/>
            <a:ext cx="642045" cy="34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50" lIns="8500" spcFirstLastPara="1" rIns="8500" wrap="square" tIns="510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Space Mono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086475" y="1998101"/>
            <a:ext cx="257175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Space Mono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rPr>
              <a:t>[ LOGIC ]</a:t>
            </a:r>
            <a:br>
              <a:rPr b="0" i="0" lang="en-US" sz="7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rPr>
            </a:br>
            <a:r>
              <a:rPr b="0" i="0" lang="en-US" sz="7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rPr>
              <a:t>T_Done = C3 &amp; !C2 &amp; C1 &amp; !C0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413" y="3095500"/>
            <a:ext cx="193357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0" y="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ADVANCED PEDESTRIAN LATCH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28625" y="766167"/>
            <a:ext cx="8286750" cy="8143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07219" y="880467"/>
            <a:ext cx="79295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PROBLEM_SOLVED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07219" y="1143000"/>
            <a:ext cx="79295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Prevents missing quick button presses from pedestrians who walk away. A simple button signal is too transient for a slow-cycling FSM.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28625" y="1651992"/>
            <a:ext cx="8286750" cy="8143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07219" y="1766292"/>
            <a:ext cx="79295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MECHANISM: MEMORY_LOOP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07219" y="2028825"/>
            <a:ext cx="79295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Uses an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OR gate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and a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D Flip-Flop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to create a secure feedback loop. Once triggered, the signal "traps" itself in the high state.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28625" y="2537817"/>
            <a:ext cx="8286750" cy="8143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07219" y="2652117"/>
            <a:ext cx="79295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FEEDBACK_LOOP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07219" y="2914650"/>
            <a:ext cx="79295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Keeps the request active even after the button is released. The FSM checks this latched signal at the end of the EW phase (S3).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28625" y="3423642"/>
            <a:ext cx="8286750" cy="8143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07219" y="3537942"/>
            <a:ext cx="79295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AUTOMATIC_RESET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07219" y="3800475"/>
            <a:ext cx="79295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The </a:t>
            </a:r>
            <a:r>
              <a:rPr b="1" i="0" lang="en-US" sz="9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S4 "Walk" state</a:t>
            </a: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 signal is used to clear the Flip-Flop, breaking the loop and resetting the memory for the next cycle.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0" y="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SYSTEM ARCHITECTURE (LOGISIM)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42900" y="766167"/>
            <a:ext cx="3343275" cy="79256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57200" y="837605"/>
            <a:ext cx="3114675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VISUAL_ORGANIZATION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1064419"/>
            <a:ext cx="3114675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Three clear sections: Timing Control (Left), FSM Memory (Middle), and Output LEDs (Right).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42900" y="1630170"/>
            <a:ext cx="3343275" cy="7286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57200" y="1701608"/>
            <a:ext cx="3114675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SYNCHRONIZATION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1928422"/>
            <a:ext cx="3114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A single clock signal ensures all components stay synchronized across the schematic.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42900" y="2430270"/>
            <a:ext cx="3343275" cy="7286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57200" y="2501708"/>
            <a:ext cx="3114675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MODULARITY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2728522"/>
            <a:ext cx="3114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Subcircuits for State Memory and Output Logic improve readability and debugging.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42900" y="3230370"/>
            <a:ext cx="3343275" cy="72866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57200" y="3301808"/>
            <a:ext cx="3114675" cy="169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PEDESTRIAN_LINK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3528622"/>
            <a:ext cx="3114675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Button connects to the memory latch at the bottom of the main schematic.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771900" y="766167"/>
            <a:ext cx="5029200" cy="317857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1900" y="789638"/>
            <a:ext cx="5029199" cy="3131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0" y="0"/>
            <a:ext cx="914400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10275" spcFirstLastPara="1" rIns="0" wrap="square" tIns="340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Space Mono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TESTING AND CONCLUSION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28625" y="766167"/>
            <a:ext cx="8286750" cy="135552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32197" y="769739"/>
            <a:ext cx="2308771" cy="269677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32197" y="769739"/>
            <a:ext cx="2308771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TEST_CASE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740968" y="769739"/>
            <a:ext cx="4598873" cy="269677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740968" y="769739"/>
            <a:ext cx="459887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CONDITION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339840" y="769739"/>
            <a:ext cx="1371963" cy="269677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339840" y="769739"/>
            <a:ext cx="137196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STATUS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32197" y="1032272"/>
            <a:ext cx="231175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Full Cycle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743953" y="1032272"/>
            <a:ext cx="460481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No Pedestrian: S0 -&gt; S1 -&gt; S2 -&gt; S3 -&gt; S0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348770" y="1032272"/>
            <a:ext cx="136303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Space Mono"/>
                <a:ea typeface="Space Mono"/>
                <a:cs typeface="Space Mono"/>
                <a:sym typeface="Space Mono"/>
              </a:rPr>
              <a:t>PASSED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32197" y="1301948"/>
            <a:ext cx="231175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Timer Accuracy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743953" y="1301948"/>
            <a:ext cx="460481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S0 Active: Stays for exactly 10 ticks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348770" y="1301948"/>
            <a:ext cx="136303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Space Mono"/>
                <a:ea typeface="Space Mono"/>
                <a:cs typeface="Space Mono"/>
                <a:sym typeface="Space Mono"/>
              </a:rPr>
              <a:t>PASSED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32197" y="1571625"/>
            <a:ext cx="231175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Pedestrian Priority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2743953" y="1571625"/>
            <a:ext cx="460481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Button pressed in S0: Transitions to S4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348770" y="1571625"/>
            <a:ext cx="136303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Space Mono"/>
                <a:ea typeface="Space Mono"/>
                <a:cs typeface="Space Mono"/>
                <a:sym typeface="Space Mono"/>
              </a:rPr>
              <a:t>PASSED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32197" y="1841302"/>
            <a:ext cx="231175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Latch Reset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743953" y="1841302"/>
            <a:ext cx="4604817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Space Mono"/>
              <a:buNone/>
            </a:pPr>
            <a:r>
              <a:rPr b="0" i="0" lang="en-US" sz="8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During S4: Request clears after phase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348770" y="1841302"/>
            <a:ext cx="1363033" cy="269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" lIns="127500" spcFirstLastPara="1" rIns="127500" wrap="square" tIns="102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Space Mono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Space Mono"/>
                <a:ea typeface="Space Mono"/>
                <a:cs typeface="Space Mono"/>
                <a:sym typeface="Space Mono"/>
              </a:rPr>
              <a:t>PASSED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28625" y="2328863"/>
            <a:ext cx="8286750" cy="15859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07219" y="2471738"/>
            <a:ext cx="7929563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Space Mono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[ FINAL_REMARKS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07219" y="2769989"/>
            <a:ext cx="79295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Stable, safe, and robust engineering solution ready for simulation.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07219" y="3034308"/>
            <a:ext cx="79295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Successfully completed with high quality as a special dedication for Waleed’s birthday.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07219" y="3298627"/>
            <a:ext cx="7929563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Space Mono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[ ] Demonstrates a deep understanding of digital logic and FSM design.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1321594" y="907256"/>
            <a:ext cx="6500813" cy="3314700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2062500" y="2271850"/>
            <a:ext cx="5019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50"/>
              <a:buFont typeface="Space Mono"/>
              <a:buNone/>
            </a:pPr>
            <a:r>
              <a:rPr b="1" i="0" lang="en-US" sz="2650" u="none" cap="none" strike="noStrike">
                <a:solidFill>
                  <a:srgbClr val="0F172A"/>
                </a:solidFill>
                <a:latin typeface="Space Mono"/>
                <a:ea typeface="Space Mono"/>
                <a:cs typeface="Space Mono"/>
                <a:sym typeface="Space Mono"/>
              </a:rPr>
              <a:t>THANK YOU FOR ATTENTION!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2026-05-03T20:17:04Z</dcterms:created>
  <dc:creator>PptxGenJS</dc:creator>
</cp:coreProperties>
</file>